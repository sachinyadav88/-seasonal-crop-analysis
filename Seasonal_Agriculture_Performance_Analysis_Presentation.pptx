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yield by season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Yield (t/ha)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Kharif</c:v>
                </c:pt>
                <c:pt idx="1">
                  <c:v>Rabi</c:v>
                </c:pt>
                <c:pt idx="2">
                  <c:v>Zaid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5.629</c:v>
                </c:pt>
                <c:pt idx="1">
                  <c:v>5.093</c:v>
                </c:pt>
                <c:pt idx="2">
                  <c:v>4.633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Season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Average yield (t/ha)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yield by season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Yield (t/ha)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Kharif</c:v>
                </c:pt>
                <c:pt idx="1">
                  <c:v>Rabi</c:v>
                </c:pt>
                <c:pt idx="2">
                  <c:v>Zaid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5.629</c:v>
                </c:pt>
                <c:pt idx="1">
                  <c:v>5.093</c:v>
                </c:pt>
                <c:pt idx="2">
                  <c:v>4.633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Season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Average yield (t/ha)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yield by season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Yield (t/ha)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Kharif</c:v>
                </c:pt>
                <c:pt idx="1">
                  <c:v>Rabi</c:v>
                </c:pt>
                <c:pt idx="2">
                  <c:v>Zaid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5.629</c:v>
                </c:pt>
                <c:pt idx="1">
                  <c:v>5.093</c:v>
                </c:pt>
                <c:pt idx="2">
                  <c:v>4.633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Season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Average yield (t/ha)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profit by season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Profit (₹)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Kharif</c:v>
                </c:pt>
                <c:pt idx="1">
                  <c:v>Rabi</c:v>
                </c:pt>
                <c:pt idx="2">
                  <c:v>Zaid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178914.65</c:v>
                </c:pt>
                <c:pt idx="1">
                  <c:v>87689.47</c:v>
                </c:pt>
                <c:pt idx="2">
                  <c:v>-24804.82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Season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Average profit (₹)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yield by season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Yield (t/ha)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Kharif</c:v>
                </c:pt>
                <c:pt idx="1">
                  <c:v>Rabi</c:v>
                </c:pt>
                <c:pt idx="2">
                  <c:v>Zaid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5.629</c:v>
                </c:pt>
                <c:pt idx="1">
                  <c:v>5.093</c:v>
                </c:pt>
                <c:pt idx="2">
                  <c:v>4.633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Season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Average yield (t/ha)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profit by season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Profit (₹)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Kharif</c:v>
                </c:pt>
                <c:pt idx="1">
                  <c:v>Rabi</c:v>
                </c:pt>
                <c:pt idx="2">
                  <c:v>Zaid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178914.65</c:v>
                </c:pt>
                <c:pt idx="1">
                  <c:v>87689.47</c:v>
                </c:pt>
                <c:pt idx="2">
                  <c:v>-24804.82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Season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Average profit (₹)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yield by season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Yield (t/ha)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Kharif</c:v>
                </c:pt>
                <c:pt idx="1">
                  <c:v>Rabi</c:v>
                </c:pt>
                <c:pt idx="2">
                  <c:v>Zaid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5.629</c:v>
                </c:pt>
                <c:pt idx="1">
                  <c:v>5.093</c:v>
                </c:pt>
                <c:pt idx="2">
                  <c:v>4.633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Season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Average yield (t/ha)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46304" cy="4663440"/>
          </a:xfrm>
          <a:prstGeom prst="rect">
            <a:avLst/>
          </a:prstGeom>
          <a:solidFill>
            <a:srgbClr val="84A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93046"/>
                </a:solidFill>
                <a:latin typeface="Calibri"/>
              </a:defRPr>
            </a:pPr>
            <a:r>
              <a:t>Seasonal Agriculture</a:t>
            </a:r>
            <a:br/>
            <a:r>
              <a:t>Performance Analysis</a:t>
            </a:r>
          </a:p>
          <a:p>
            <a:pPr>
              <a:defRPr sz="2200">
                <a:solidFill>
                  <a:srgbClr val="365D48"/>
                </a:solidFill>
                <a:latin typeface="Calibri"/>
              </a:defRPr>
            </a:pPr>
            <a:r>
              <a:t>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379476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62E33"/>
                </a:solidFill>
                <a:latin typeface="Calibri"/>
              </a:defRPr>
            </a:pPr>
            <a:r>
              <a:t>Dataset: cleaned_agriculture_dataset.csv</a:t>
            </a:r>
          </a:p>
          <a:p>
            <a:pPr>
              <a:defRPr sz="1600">
                <a:solidFill>
                  <a:srgbClr val="697378"/>
                </a:solidFill>
                <a:latin typeface="Calibri"/>
              </a:defRPr>
            </a:pPr>
            <a:r>
              <a:t>24 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0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8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046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527048"/>
            <a:ext cx="2249424" cy="10149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65D48"/>
                </a:solidFill>
                <a:latin typeface="Calibri"/>
              </a:defRPr>
            </a:pPr>
            <a:r>
              <a:t>4,000</a:t>
            </a:r>
          </a:p>
          <a:p>
            <a:pPr algn="ctr">
              <a:defRPr sz="1200">
                <a:solidFill>
                  <a:srgbClr val="697378"/>
                </a:solidFill>
                <a:latin typeface="Calibri"/>
              </a:defRPr>
            </a:pPr>
            <a:r>
              <a:t>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38728" y="1527048"/>
            <a:ext cx="2249424" cy="10149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65D48"/>
                </a:solidFill>
                <a:latin typeface="Calibri"/>
              </a:defRPr>
            </a:pPr>
            <a:r>
              <a:t>28</a:t>
            </a:r>
          </a:p>
          <a:p>
            <a:pPr algn="ctr">
              <a:defRPr sz="1200">
                <a:solidFill>
                  <a:srgbClr val="697378"/>
                </a:solidFill>
                <a:latin typeface="Calibri"/>
              </a:defRPr>
            </a:pPr>
            <a:r>
              <a:t>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527048"/>
            <a:ext cx="2249424" cy="10149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65D48"/>
                </a:solidFill>
                <a:latin typeface="Calibri"/>
              </a:defRPr>
            </a:pPr>
            <a:r>
              <a:t>0</a:t>
            </a:r>
          </a:p>
          <a:p>
            <a:pPr algn="ctr">
              <a:defRPr sz="1200">
                <a:solidFill>
                  <a:srgbClr val="697378"/>
                </a:solidFill>
                <a:latin typeface="Calibri"/>
              </a:defRPr>
            </a:pPr>
            <a:r>
              <a:t>Missing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1732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3688" y="1527048"/>
            <a:ext cx="2249424" cy="10149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65D48"/>
                </a:solidFill>
                <a:latin typeface="Calibri"/>
              </a:defRPr>
            </a:pPr>
            <a:r>
              <a:t>0</a:t>
            </a:r>
          </a:p>
          <a:p>
            <a:pPr algn="ctr">
              <a:defRPr sz="1200">
                <a:solidFill>
                  <a:srgbClr val="697378"/>
                </a:solidFill>
                <a:latin typeface="Calibri"/>
              </a:defRPr>
            </a:pPr>
            <a:r>
              <a:t>Duplicate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71800"/>
            <a:ext cx="10332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3 seasons: Kharif, Rabi and Zaid; 8 crops and 8 states.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4,000 unique Farm_IDs; no missing values and no duplicate rows.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Profit is consistent with Revenue − Total Cost for all 4,000 records.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Sugarcane's high yield was retained; no outliers were removed.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State/District inconsistencies were retained exactly as provided.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0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046"/>
                </a:solidFill>
                <a:latin typeface="Calibri"/>
              </a:defRPr>
            </a:pPr>
            <a:r>
              <a:t>1. How does agricultural performance vary across seasons?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Kharif records the highest average yield at 5.629 t/ha and the highest average profit at ₹178,914.65.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Rabi averages 5.093 t/ha yield and ₹87,689.47 profit.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Zaid has the lowest average yield at 4.633 t/ha and a negative average profit of −₹24,804.82.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635240" y="1417320"/>
          <a:ext cx="388620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4068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84A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541264"/>
            <a:ext cx="102778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5D48"/>
                </a:solidFill>
                <a:latin typeface="Calibri"/>
              </a:defRPr>
            </a:pPr>
            <a:r>
              <a:t>Seasonal performance is strongest in Kharif, while Zaid shows substantially weaker production and profitability.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0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046"/>
                </a:solidFill>
                <a:latin typeface="Calibri"/>
              </a:defRPr>
            </a:pPr>
            <a:r>
              <a:t>2. What major seasonal patterns can be observed?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All 8 crops have their highest average yield in Kharif.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Average yield declines from 5.629 t/ha (Kharif) to 5.093 t/ha (Rabi) and 4.633 t/ha (Zaid).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Average profit follows the same broad seasonal direction: ₹178,914.65 → ₹87,689.47 → −₹24,804.82.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635240" y="1417320"/>
          <a:ext cx="388620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4068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84A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541264"/>
            <a:ext cx="102778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5D48"/>
                </a:solidFill>
                <a:latin typeface="Calibri"/>
              </a:defRPr>
            </a:pPr>
            <a:r>
              <a:t>The dataset shows a clear seasonal gradient, with Kharif strongest and Zaid weakest on the main production and profit measures.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0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046"/>
                </a:solidFill>
                <a:latin typeface="Calibri"/>
              </a:defRPr>
            </a:pPr>
            <a:r>
              <a:t>3. Which characteristics change between seasons?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65379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62E33"/>
                </a:solidFill>
                <a:latin typeface="Calibri"/>
              </a:defRPr>
            </a:pPr>
            <a:r>
              <a:t>• Yield, profit, water usage, and water-use efficiency differ across seasons.</a:t>
            </a:r>
          </a:p>
          <a:p>
            <a:pPr>
              <a:spcAft>
                <a:spcPts val="1500"/>
              </a:spcAft>
              <a:defRPr sz="1600">
                <a:solidFill>
                  <a:srgbClr val="262E33"/>
                </a:solidFill>
                <a:latin typeface="Calibri"/>
              </a:defRPr>
            </a:pPr>
            <a:r>
              <a:t>• Average yield: Kharif 5.629 t/ha; Rabi 5.093 t/ha; Zaid 4.633 t/ha.</a:t>
            </a:r>
          </a:p>
          <a:p>
            <a:pPr>
              <a:spcAft>
                <a:spcPts val="1500"/>
              </a:spcAft>
              <a:defRPr sz="1600">
                <a:solidFill>
                  <a:srgbClr val="262E33"/>
                </a:solidFill>
                <a:latin typeface="Calibri"/>
              </a:defRPr>
            </a:pPr>
            <a:r>
              <a:t>• Average profit: Kharif ₹178,914.65; Rabi ₹87,689.47; Zaid −₹24,804.82.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52360" y="1463040"/>
          <a:ext cx="397763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409"/>
                <a:gridCol w="994409"/>
                <a:gridCol w="994409"/>
                <a:gridCol w="994412"/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Season</a:t>
                      </a:r>
                    </a:p>
                  </a:txBody>
                  <a:tcPr>
                    <a:solidFill>
                      <a:srgbClr val="19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Yield</a:t>
                      </a:r>
                    </a:p>
                  </a:txBody>
                  <a:tcPr>
                    <a:solidFill>
                      <a:srgbClr val="19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Profit</a:t>
                      </a:r>
                    </a:p>
                  </a:txBody>
                  <a:tcPr>
                    <a:solidFill>
                      <a:srgbClr val="1930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19304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E33"/>
                          </a:solidFill>
                          <a:latin typeface="Calibri"/>
                        </a:defRPr>
                      </a:pPr>
                      <a:r>
                        <a:t>Kharif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E33"/>
                          </a:solidFill>
                          <a:latin typeface="Calibri"/>
                        </a:defRPr>
                      </a:pPr>
                      <a:r>
                        <a:t>5.629 t/ha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E33"/>
                          </a:solidFill>
                          <a:latin typeface="Calibri"/>
                        </a:defRPr>
                      </a:pPr>
                      <a:r>
                        <a:t>₹178,914.65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E33"/>
                          </a:solidFill>
                          <a:latin typeface="Calibri"/>
                        </a:defRPr>
                      </a:pPr>
                      <a:r>
                        <a:t>Highest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E33"/>
                          </a:solidFill>
                          <a:latin typeface="Calibri"/>
                        </a:defRPr>
                      </a:pPr>
                      <a:r>
                        <a:t>Rabi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E33"/>
                          </a:solidFill>
                          <a:latin typeface="Calibri"/>
                        </a:defRPr>
                      </a:pPr>
                      <a:r>
                        <a:t>5.093 t/ha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E33"/>
                          </a:solidFill>
                          <a:latin typeface="Calibri"/>
                        </a:defRPr>
                      </a:pPr>
                      <a:r>
                        <a:t>₹87,689.47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E33"/>
                          </a:solidFill>
                          <a:latin typeface="Calibri"/>
                        </a:defRPr>
                      </a:pPr>
                      <a:r>
                        <a:t>Middle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E33"/>
                          </a:solidFill>
                          <a:latin typeface="Calibri"/>
                        </a:defRPr>
                      </a:pPr>
                      <a:r>
                        <a:t>Zaid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E33"/>
                          </a:solidFill>
                          <a:latin typeface="Calibri"/>
                        </a:defRPr>
                      </a:pPr>
                      <a:r>
                        <a:t>4.633 t/ha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E33"/>
                          </a:solidFill>
                          <a:latin typeface="Calibri"/>
                        </a:defRPr>
                      </a:pPr>
                      <a:r>
                        <a:t>−₹24,804.82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62E33"/>
                          </a:solidFill>
                          <a:latin typeface="Calibri"/>
                        </a:defRPr>
                      </a:pPr>
                      <a:r>
                        <a:t>Lowest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4068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84A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541264"/>
            <a:ext cx="102778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5D48"/>
                </a:solidFill>
                <a:latin typeface="Calibri"/>
              </a:defRPr>
            </a:pPr>
            <a:r>
              <a:t>The largest changes are visible in production and economic outcomes, with resource-use measures also varying by season.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0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046"/>
                </a:solidFill>
                <a:latin typeface="Calibri"/>
              </a:defRPr>
            </a:pPr>
            <a:r>
              <a:t>4. What differences exist between agricultural activities in different seasons?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7665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The mix of crops and farming conditions differs across seasonal records.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All 8 crops reach their highest average yield in Kharif, indicating a consistent seasonal production difference across crop categories.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Sugarcane has much higher yield than other crops and was retained as a normal observation, not removed as an outlier.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635240" y="1417320"/>
          <a:ext cx="388620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4068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84A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541264"/>
            <a:ext cx="102778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5D48"/>
                </a:solidFill>
                <a:latin typeface="Calibri"/>
              </a:defRPr>
            </a:pPr>
            <a:r>
              <a:t>Seasonal differences are not limited to one crop; the higher Kharif yield pattern appears across all eight crop categories.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0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046"/>
                </a:solidFill>
                <a:latin typeface="Calibri"/>
              </a:defRPr>
            </a:pPr>
            <a:r>
              <a:t>5. Are there noticeable variations in resource usage across seasons?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629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Water usage varies across seasons, and the report compares both total/average water use and water-use efficiency.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The seasonal water-use comparison is included in the analysis.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No records were removed or adjusted to make the resource-use patterns fit expectations.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508760"/>
            <a:ext cx="3703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36407" y="1618488"/>
            <a:ext cx="3483863" cy="11064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65D48"/>
                </a:solidFill>
                <a:latin typeface="Calibri"/>
              </a:defRPr>
            </a:pPr>
            <a:r>
              <a:t>Water usage varies</a:t>
            </a:r>
          </a:p>
          <a:p>
            <a:pPr algn="ctr">
              <a:defRPr sz="1200">
                <a:solidFill>
                  <a:srgbClr val="697378"/>
                </a:solidFill>
                <a:latin typeface="Calibri"/>
              </a:defRPr>
            </a:pPr>
            <a:r>
              <a:t>Seasonal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3063240"/>
            <a:ext cx="3703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7" y="3172968"/>
            <a:ext cx="3483863" cy="11064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65D48"/>
                </a:solidFill>
                <a:latin typeface="Calibri"/>
              </a:defRPr>
            </a:pPr>
            <a:r>
              <a:t>Water-use efficiency</a:t>
            </a:r>
          </a:p>
          <a:p>
            <a:pPr algn="ctr">
              <a:defRPr sz="1200">
                <a:solidFill>
                  <a:srgbClr val="697378"/>
                </a:solidFill>
                <a:latin typeface="Calibri"/>
              </a:defRPr>
            </a:pPr>
            <a:r>
              <a:t>Efficiency measure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068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84A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541264"/>
            <a:ext cx="102778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5D48"/>
                </a:solidFill>
                <a:latin typeface="Calibri"/>
              </a:defRPr>
            </a:pPr>
            <a:r>
              <a:t>Resource use is not constant across seasons, so seasonal planning should consider both water demand and output efficiency.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0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8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046"/>
                </a:solidFill>
                <a:latin typeface="Calibri"/>
              </a:defRPr>
            </a:pPr>
            <a:r>
              <a:t>6. Are there relationships between seasonal environmental conditions and agricultural performance?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Environmental variables were tested against yield rather than relying on visual impressions.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The linear correlations between environmental conditions and yield are generally weak.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This means the dataset does not show strong simple linear relationships that alone explain yield differences.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508760"/>
            <a:ext cx="3703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36407" y="1618488"/>
            <a:ext cx="3483863" cy="11064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65D48"/>
                </a:solidFill>
                <a:latin typeface="Calibri"/>
              </a:defRPr>
            </a:pPr>
            <a:r>
              <a:t>Generally weak</a:t>
            </a:r>
          </a:p>
          <a:p>
            <a:pPr algn="ctr">
              <a:defRPr sz="1200">
                <a:solidFill>
                  <a:srgbClr val="697378"/>
                </a:solidFill>
                <a:latin typeface="Calibri"/>
              </a:defRPr>
            </a:pPr>
            <a:r>
              <a:t>Environmental → yield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3063240"/>
            <a:ext cx="3703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7" y="3172968"/>
            <a:ext cx="3483863" cy="11064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65D48"/>
                </a:solidFill>
                <a:latin typeface="Calibri"/>
              </a:defRPr>
            </a:pPr>
            <a:r>
              <a:t>No strong simple linear link</a:t>
            </a:r>
          </a:p>
          <a:p>
            <a:pPr algn="ctr">
              <a:defRPr sz="1200">
                <a:solidFill>
                  <a:srgbClr val="697378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068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84A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541264"/>
            <a:ext cx="102778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5D48"/>
                </a:solidFill>
                <a:latin typeface="Calibri"/>
              </a:defRPr>
            </a:pPr>
            <a:r>
              <a:t>Seasonal conditions may matter, but the available data does not support a strong one-variable linear explanation of yield.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0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8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046"/>
                </a:solidFill>
                <a:latin typeface="Calibri"/>
              </a:defRPr>
            </a:pPr>
            <a:r>
              <a:t>7. How do economic outcomes vary across seasons?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Average profit is ₹178,914.65 in Kharif, ₹87,689.47 in Rabi, and −₹24,804.82 in Zaid.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Overall, 1,966 of 4,000 records (49.15%) are loss-making.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Zaid has 64.48% loss-making records, making its economic outcome notably different from the other seasons.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635240" y="1417320"/>
          <a:ext cx="388620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4068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84A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541264"/>
            <a:ext cx="102778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5D48"/>
                </a:solidFill>
                <a:latin typeface="Calibri"/>
              </a:defRPr>
            </a:pPr>
            <a:r>
              <a:t>Profitability changes sharply by season, with Zaid moving into negative average profit and a high share of loss-making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0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8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046"/>
                </a:solidFill>
                <a:latin typeface="Calibri"/>
              </a:defRPr>
            </a:pPr>
            <a:r>
              <a:t>8. Are some seasonal patterns consistent across different regions or categories?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76656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The Kharif yield advantage is consistent across all 8 crop categories.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Regional comparisons must be interpreted carefully because State and District values do not always represent real geographic matches.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Therefore, crop-level seasonal consistency is stronger evidence here than combined State–District comparisons.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635240" y="1417320"/>
          <a:ext cx="388620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4068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84A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541264"/>
            <a:ext cx="102778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5D48"/>
                </a:solidFill>
                <a:latin typeface="Calibri"/>
              </a:defRPr>
            </a:pPr>
            <a:r>
              <a:t>The strongest consistent pattern is across crops; geographic combinations require the stated data-quality caution.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0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046"/>
                </a:solidFill>
                <a:latin typeface="Calibri"/>
              </a:defRPr>
            </a:pPr>
            <a:r>
              <a:t>9. Are there unusual or unexpected seasonal patterns?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Zaid has a negative average profit of −₹24,804.82 and 64.48% loss-making records.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Sugarcane has a much higher yield than the other crops, but this is treated as a genuine crop characteristic rather than a data error.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State/District mismatches are also present and were not corrected.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635240" y="1417320"/>
          <a:ext cx="388620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4068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84A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541264"/>
            <a:ext cx="102778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5D48"/>
                </a:solidFill>
                <a:latin typeface="Calibri"/>
              </a:defRPr>
            </a:pPr>
            <a:r>
              <a:t>These observations are unusual within the dataset but were retained because the project instructions explicitly say not to alter such values by default.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0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8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046"/>
                </a:solidFill>
                <a:latin typeface="Calibri"/>
              </a:defRPr>
            </a:pPr>
            <a:r>
              <a:t>10. What insights can be derived from the observed seasonal differences?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Kharif combines the highest average yield (5.629 t/ha) with the highest average profit (₹178,914.65).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Zaid combines the lowest average yield (4.633 t/ha) with negative average profit (−₹24,804.82).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The seasonal differences therefore affect both physical output and financial performance.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635240" y="1417320"/>
          <a:ext cx="388620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4068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84A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541264"/>
            <a:ext cx="102778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5D48"/>
                </a:solidFill>
                <a:latin typeface="Calibri"/>
              </a:defRPr>
            </a:pPr>
            <a:r>
              <a:t>The strongest insight is that season is associated with meaningful differences in both agricultural output and profitability.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0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8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046"/>
                </a:solidFill>
                <a:latin typeface="Calibri"/>
              </a:defRPr>
            </a:pPr>
            <a:r>
              <a:t>11. What conclusions can reasonably be drawn from the available data?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629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The dataset supports clear descriptive conclusions about seasonal differences in yield, profit, water use, and efficiency.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It contains 4,000 records with no missing values and no duplicate rows.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The results describe patterns in this dataset; they should not be treated as proof of causation.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630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7848" y="1572768"/>
            <a:ext cx="3209544" cy="10149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65D48"/>
                </a:solidFill>
                <a:latin typeface="Calibri"/>
              </a:defRPr>
            </a:pPr>
            <a:r>
              <a:t>4,000</a:t>
            </a:r>
          </a:p>
          <a:p>
            <a:pPr algn="ctr">
              <a:defRPr sz="1200">
                <a:solidFill>
                  <a:srgbClr val="697378"/>
                </a:solidFill>
                <a:latin typeface="Calibri"/>
              </a:defRPr>
            </a:pPr>
            <a:r>
              <a:t>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9260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7848" y="3035808"/>
            <a:ext cx="3209544" cy="10149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65D48"/>
                </a:solidFill>
                <a:latin typeface="Calibri"/>
              </a:defRPr>
            </a:pPr>
            <a:r>
              <a:t>0</a:t>
            </a:r>
          </a:p>
          <a:p>
            <a:pPr algn="ctr">
              <a:defRPr sz="1200">
                <a:solidFill>
                  <a:srgbClr val="697378"/>
                </a:solidFill>
                <a:latin typeface="Calibri"/>
              </a:defRPr>
            </a:pPr>
            <a:r>
              <a:t>Missing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3891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498848"/>
            <a:ext cx="3209544" cy="10149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65D48"/>
                </a:solidFill>
                <a:latin typeface="Calibri"/>
              </a:defRPr>
            </a:pPr>
            <a:r>
              <a:t>0</a:t>
            </a:r>
          </a:p>
          <a:p>
            <a:pPr algn="ctr">
              <a:defRPr sz="1200">
                <a:solidFill>
                  <a:srgbClr val="697378"/>
                </a:solidFill>
                <a:latin typeface="Calibri"/>
              </a:defRPr>
            </a:pPr>
            <a:r>
              <a:t>Duplicate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84A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541264"/>
            <a:ext cx="102778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5D48"/>
                </a:solidFill>
                <a:latin typeface="Calibri"/>
              </a:defRPr>
            </a:pPr>
            <a:r>
              <a:t>The evidence supports seasonal comparisons and planning insights, while causal claims would require additional controlled or longitudinal information.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0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8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046"/>
                </a:solidFill>
                <a:latin typeface="Calibri"/>
              </a:defRPr>
            </a:pPr>
            <a:r>
              <a:t>12. How could the findings support better seasonal agricultural planning?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Use Kharif's stronger production and profitability profile as a benchmark for seasonal planning.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Treat Zaid as a higher-risk period financially, given its −₹24,804.82 average profit and 64.48% loss-making rate.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Plan water and input use alongside expected yield and profitability rather than evaluating resource use in isolation.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5544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7848" y="1664207"/>
            <a:ext cx="3118104" cy="11064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65D48"/>
                </a:solidFill>
                <a:latin typeface="Calibri"/>
              </a:defRPr>
            </a:pPr>
            <a:r>
              <a:t>₹178,914.65</a:t>
            </a:r>
          </a:p>
          <a:p>
            <a:pPr algn="ctr">
              <a:defRPr sz="1200">
                <a:solidFill>
                  <a:srgbClr val="697378"/>
                </a:solidFill>
                <a:latin typeface="Calibri"/>
              </a:defRPr>
            </a:pPr>
            <a:r>
              <a:t>Kharif avg. profit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310896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7848" y="3218688"/>
            <a:ext cx="3118104" cy="11064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65D48"/>
                </a:solidFill>
                <a:latin typeface="Calibri"/>
              </a:defRPr>
            </a:pPr>
            <a:r>
              <a:t>−₹24,804.82</a:t>
            </a:r>
          </a:p>
          <a:p>
            <a:pPr algn="ctr">
              <a:defRPr sz="1200">
                <a:solidFill>
                  <a:srgbClr val="697378"/>
                </a:solidFill>
                <a:latin typeface="Calibri"/>
              </a:defRPr>
            </a:pPr>
            <a:r>
              <a:t>Zaid avg. profit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068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84A9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541264"/>
            <a:ext cx="102778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5D48"/>
                </a:solidFill>
                <a:latin typeface="Calibri"/>
              </a:defRPr>
            </a:pPr>
            <a:r>
              <a:t>Season-specific planning can combine expected output, water requirements, and financial risk instead of applying one strategy to every season.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0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8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046"/>
                </a:solidFill>
                <a:latin typeface="Calibri"/>
              </a:defRPr>
            </a:pPr>
            <a:r>
              <a:t>Notes and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All calculations are based on the full 4,000-row dataset; no sampling was used.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No records were removed for being unusual or extreme. Sugarcane's high yield was retained.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State and District values were not geographically corrected, even where they do not match real geography.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Where a question is broad, the answer uses descriptive comparisons supported by the dataset rather than causal claims.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The PDF supplied the 12 Key Questions as bullet points; this presentation numbers them 1–12 in their original order.</a:t>
            </a:r>
          </a:p>
          <a:p>
            <a:pPr>
              <a:spcAft>
                <a:spcPts val="1500"/>
              </a:spcAft>
              <a:defRPr sz="1700">
                <a:solidFill>
                  <a:srgbClr val="262E33"/>
                </a:solidFill>
                <a:latin typeface="Calibri"/>
              </a:defRPr>
            </a:pPr>
            <a:r>
              <a:t>• Major figures were cross-checked during the analysis before being used in this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E0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655624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8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Seasonal Agriculture Performance Analysis</dc:title>
  <dc:subject>Major Project — Seasonal Agriculture Performance Analysis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